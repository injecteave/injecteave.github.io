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media/image24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73" r:id="rId4"/>
    <p:sldId id="279" r:id="rId5"/>
    <p:sldId id="259" r:id="rId6"/>
    <p:sldId id="275" r:id="rId7"/>
    <p:sldId id="261" r:id="rId8"/>
    <p:sldId id="263" r:id="rId9"/>
    <p:sldId id="272" r:id="rId10"/>
    <p:sldId id="260" r:id="rId11"/>
    <p:sldId id="276" r:id="rId12"/>
    <p:sldId id="268" r:id="rId13"/>
    <p:sldId id="27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C4C3"/>
    <a:srgbClr val="ADCCE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2"/>
    <p:restoredTop sz="87329" autoAdjust="0"/>
  </p:normalViewPr>
  <p:slideViewPr>
    <p:cSldViewPr snapToGrid="0">
      <p:cViewPr>
        <p:scale>
          <a:sx n="66" d="100"/>
          <a:sy n="66" d="100"/>
        </p:scale>
        <p:origin x="1515" y="879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BEC6C-8A1E-410A-AE3E-A1FC681555DC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79128-9370-4A64-9100-25D32C2E59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223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125EC-FBBC-F729-C058-5FCF53486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62343-E206-1581-C4EB-2052760DD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ED498-AA20-B400-B15B-F7614610C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72FD7-2CD3-A632-B286-DBF1BDC98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9128-9370-4A64-9100-25D32C2E59D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624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C8F66-F634-EC0D-47F0-EC33AA08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5B552-F204-284D-7755-B3DD91D9B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C0E95-D009-C837-7BF5-8238D58CA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F61EA-5EF8-A37B-72CB-DD4C2E517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9128-9370-4A64-9100-25D32C2E59D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164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3F9A4-56E1-D732-6652-8B41BD2B5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DF6061-D507-35FC-D30E-0064818B6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BB0C2-F6F9-780A-CEFC-2FEAB4B5D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7D2D8-4641-7BDE-6677-0D773D2CD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9128-9370-4A64-9100-25D32C2E59D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708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9128-9370-4A64-9100-25D32C2E59D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296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21706-AE21-DBE8-9B4E-C2322352F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1B8EB-576B-B16E-BFCD-E2DA8E868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6ECA3-8C53-2BB2-B0C0-2464976BB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60F3A-2685-3F4A-D68B-9F5AF7078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9128-9370-4A64-9100-25D32C2E59D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015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9128-9370-4A64-9100-25D32C2E59D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679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96417-CC19-87B4-EA1B-F2240A32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D958C-3537-65BE-E9FE-6E5FAE8D4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014BE-ACBE-8705-E1A0-3FE983533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ECE7E-A7C6-99C0-01C1-D4B5ECE0B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9128-9370-4A64-9100-25D32C2E59D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55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6FB06-A89E-F0E7-7CEF-61770677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CE8C9-23CE-F4C6-4ED4-27A43DE90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AD469-F64D-0B0E-6125-EE86CCF0B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64552-48B6-F9ED-401F-757E3207B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9128-9370-4A64-9100-25D32C2E59D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228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未来进一步提高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9128-9370-4A64-9100-25D32C2E59D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22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DFC48-3E67-FD84-5107-CD37F6354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AEE9F-BBDF-C196-7B6F-1F15B6174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FA5FE-8CAB-D4F4-2AD2-20D1B0B83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未来进一步提高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FBBB7-0909-6B9C-2C31-C5292B1D8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9128-9370-4A64-9100-25D32C2E59D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534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E3F15-B075-529D-44A4-62FD01609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A4B3EF-6B2D-14E1-591C-2FC82D983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28A0B-A9DD-D10C-827C-442761650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28FCA-9A08-3C60-122E-A058F1073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9128-9370-4A64-9100-25D32C2E59D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242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97D3-149E-D637-086E-0E7D07F3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9EE84-5FC3-EF9F-B2FE-3DA28A1ED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5A7B6F-1DB6-B3F2-162D-335C4207F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D64EF-7316-8761-CB73-FDDD0CFCB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9128-9370-4A64-9100-25D32C2E59D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003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EDF2-C371-EEA3-C7F9-C1F45AF35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A4C1F-B6F5-9F51-B5DE-BFED7A13A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3FC99-04BB-132E-BD95-2EF7A8780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68C47-BCFB-48FC-86FF-6859F8C71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4FD8E-A36F-80E3-B0AA-FA6C5F25D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99493-8F46-4651-F76E-042A19D1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727C6-084F-46DD-9FD4-0A4EB377FF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207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F53BC-ECD0-938D-97BE-CCF8062AB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9FF11-1E01-B171-AE45-158C44381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F4AB1-EB85-26E7-E5D3-414974F8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68C47-BCFB-48FC-86FF-6859F8C71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9CF84-C426-61A1-C8A2-BB6E7E179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50D32-8520-AD58-30B7-2B5BDE888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727C6-084F-46DD-9FD4-0A4EB377FF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076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EF58-CA72-F144-3084-A1B9FCE02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6A612-B065-87E2-D6B0-C7AC101EC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37F63-AF12-52EE-11D6-D9C23E052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68C47-BCFB-48FC-86FF-6859F8C71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42302-016C-D42D-DAF2-473DDD18D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1F03D-08A9-AFB3-934F-85ECA86AD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727C6-084F-46DD-9FD4-0A4EB377FF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097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97AE-F360-D59F-3F9E-80BFF85FF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F95D1-2451-1B6C-ACFB-051B4FE7D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D3C867-03DE-646B-3304-BC75452D2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EA87F-DF2B-CF73-7817-2080C68D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68C47-BCFB-48FC-86FF-6859F8C71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F5703-A8F0-BF7B-9CB3-8F395686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DE0FE-2B12-F7C9-43F9-4BB0E9E5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727C6-084F-46DD-9FD4-0A4EB377FF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42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67938-9E11-3D3B-B30E-0E4D491E5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E709B-E9CC-AA9C-BBA4-AA37E6E5C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4AF70-8F44-974F-0B38-3709A25AA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658CA5-76BD-6722-311D-4CF4ECD02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47360-65AE-1FC3-8095-4B770D0D71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FCDAF2-FB78-93FA-B519-5072C9BE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68C47-BCFB-48FC-86FF-6859F8C71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829980-D533-BA51-5A97-C2344E9A9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D24AD7-79C3-EA31-8BE6-D9E90A883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727C6-084F-46DD-9FD4-0A4EB377FF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72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3D81-D8BE-E466-E521-C67250B91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74255-17B2-B858-919B-36A5D1E3F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68C47-BCFB-48FC-86FF-6859F8C71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6C296C-FBA5-DAC1-2C05-22E4E4E03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778FD4-C3E6-8DFD-1D6F-B33E92636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727C6-084F-46DD-9FD4-0A4EB377FF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350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BBF167-644B-9D3A-9F48-5F723947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68C47-BCFB-48FC-86FF-6859F8C71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BFD498-969D-F171-89B1-7ED748B5B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96C33-34EC-B666-B87D-D0E2258EA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727C6-084F-46DD-9FD4-0A4EB377FF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72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1AB66-13FB-F57B-F026-DC9C1BD8B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E4CC5-F602-6A5E-7EA5-FFB10CDE4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81E80-3F70-ABC9-FB9D-8AB3EEE05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084B4-64E0-F092-2832-63148D91A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68C47-BCFB-48FC-86FF-6859F8C71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34F63-FAB3-0C4E-1711-72A995851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57AF3-E642-0436-B05C-8B2F3F1D4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727C6-084F-46DD-9FD4-0A4EB377FF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442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3CB2-0C27-5B7A-3145-DAF8EF062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47FE34-BAC4-3FB1-0776-1E9B1B9353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4023E-6BB4-FED3-ECAE-646C3A484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8581E-015B-9788-E005-D5F83A44C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68C47-BCFB-48FC-86FF-6859F8C71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F6669-1D45-057A-65A9-385D6FE0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1F253-6073-7FA0-FDA4-FECF1B13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727C6-084F-46DD-9FD4-0A4EB377FF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50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E1ADA-9153-7651-8C39-17FCA526D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2241B-D82C-0023-8855-160E58604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33F7-F228-F011-B154-334C55683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68C47-BCFB-48FC-86FF-6859F8C71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53E8D-723C-6B82-83DA-DACD71335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26B47-6187-E104-47B6-3B358C2D5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727C6-084F-46DD-9FD4-0A4EB377FF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622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62BD31-D023-80D5-ADF6-B78301605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D3136-BA4D-AC20-AA9E-6B8FAA594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84FC3-E833-07D2-152D-6938E8DA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68C47-BCFB-48FC-86FF-6859F8C71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A8018-71D1-1D70-67DA-846835459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01CFC-C62E-D652-8097-5EBE2BCFA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727C6-084F-46DD-9FD4-0A4EB377FF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878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94F6BA-9406-47DF-0C3F-B1ABA02F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975DA-E445-56EF-752D-073BB741F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7F64E-EE78-F64C-D7B7-3E14A56DA0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068C47-BCFB-48FC-86FF-6859F8C71D75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B6A0B-844A-B73B-9F18-CCC233FEE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08B7C-BB77-299C-F23B-8C00540BF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727C6-084F-46DD-9FD4-0A4EB377FF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02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injecteave.github.io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jecteave.github.i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njecteave.github.io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injecteave.github.io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jecteave.github.io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njecteave.github.io/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njecteave.github.io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hyperlink" Target="https://injecteave.github.io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injecteave.github.io/" TargetMode="External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hyperlink" Target="https://injecteave.github.io/" TargetMode="External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hyperlink" Target="https://injecteave.github.io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4.jpg"/><Relationship Id="rId5" Type="http://schemas.openxmlformats.org/officeDocument/2006/relationships/image" Target="../media/image18.jpg"/><Relationship Id="rId10" Type="http://schemas.openxmlformats.org/officeDocument/2006/relationships/image" Target="../media/image2.svg"/><Relationship Id="rId4" Type="http://schemas.openxmlformats.org/officeDocument/2006/relationships/hyperlink" Target="https://injecteave.github.io/" TargetMode="Externa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44CAAE-E898-0725-CEF4-A0AE6DC27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D54046-4CE2-8C51-AEB2-588977E45169}"/>
              </a:ext>
            </a:extLst>
          </p:cNvPr>
          <p:cNvSpPr txBox="1"/>
          <p:nvPr/>
        </p:nvSpPr>
        <p:spPr>
          <a:xfrm>
            <a:off x="207202" y="654545"/>
            <a:ext cx="1177758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Injected</a:t>
            </a:r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4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Leaked</a:t>
            </a:r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algn="ctr"/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Actively Inducing Side-Channel Leakage Using </a:t>
            </a:r>
          </a:p>
          <a:p>
            <a:pPr algn="ctr"/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Electromagnetic Injection and Hardware Nonlinearity</a:t>
            </a:r>
            <a:endParaRPr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1E5136-6B91-CEEE-F5F9-ACF39B9FC092}"/>
              </a:ext>
            </a:extLst>
          </p:cNvPr>
          <p:cNvSpPr txBox="1"/>
          <p:nvPr/>
        </p:nvSpPr>
        <p:spPr>
          <a:xfrm>
            <a:off x="1663978" y="3130241"/>
            <a:ext cx="88640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Haoran Yan</a:t>
            </a:r>
            <a:r>
              <a:rPr lang="en-US" altLang="zh-CN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, Ziyu Shao</a:t>
            </a:r>
            <a:r>
              <a:rPr lang="en-US" altLang="zh-CN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Shuhao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Zhang</a:t>
            </a:r>
            <a:r>
              <a:rPr lang="en-US" altLang="zh-CN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ctr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Qinhong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Jiang</a:t>
            </a:r>
            <a:r>
              <a:rPr lang="en-US" altLang="zh-CN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, Yan Long</a:t>
            </a:r>
            <a:r>
              <a:rPr lang="en-US" altLang="zh-CN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C14C9A8-401A-FE81-3E22-07DC7DB761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4550" y="5198268"/>
            <a:ext cx="5689854" cy="1085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E87C57-3B79-A4F9-59D0-A459517146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524" y="5117305"/>
            <a:ext cx="4278315" cy="11668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8686A92-3C6E-8DBF-4E0A-4E3530963915}"/>
              </a:ext>
            </a:extLst>
          </p:cNvPr>
          <p:cNvSpPr txBox="1"/>
          <p:nvPr/>
        </p:nvSpPr>
        <p:spPr>
          <a:xfrm>
            <a:off x="4905376" y="486727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ptos" panose="020B0004020202020204" pitchFamily="34" charset="0"/>
              </a:rPr>
              <a:t>1</a:t>
            </a:r>
            <a:endParaRPr lang="zh-CN" altLang="en-US" dirty="0"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2E7A7F-F423-A82B-536E-CA88B43E5FA5}"/>
              </a:ext>
            </a:extLst>
          </p:cNvPr>
          <p:cNvSpPr txBox="1"/>
          <p:nvPr/>
        </p:nvSpPr>
        <p:spPr>
          <a:xfrm>
            <a:off x="11306306" y="487096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ptos" panose="020B0004020202020204" pitchFamily="34" charset="0"/>
              </a:rPr>
              <a:t>2</a:t>
            </a:r>
            <a:endParaRPr lang="zh-CN" alt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944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D37A6-E293-A61B-FEDC-30F1661BB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6EF9E0-20FF-AE21-83EE-96A2B99ABDAD}"/>
              </a:ext>
            </a:extLst>
          </p:cNvPr>
          <p:cNvSpPr txBox="1"/>
          <p:nvPr/>
        </p:nvSpPr>
        <p:spPr>
          <a:xfrm>
            <a:off x="447870" y="165306"/>
            <a:ext cx="9502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Case 1: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m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Long Range Audio Eavesdropping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01ABFC-468F-4D40-80DF-3D8723740A01}"/>
              </a:ext>
            </a:extLst>
          </p:cNvPr>
          <p:cNvGrpSpPr/>
          <p:nvPr/>
        </p:nvGrpSpPr>
        <p:grpSpPr>
          <a:xfrm>
            <a:off x="447870" y="845062"/>
            <a:ext cx="2736655" cy="112202"/>
            <a:chOff x="511370" y="845061"/>
            <a:chExt cx="3037889" cy="1213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1E03A0-C71C-36E6-85BF-F416B80EB248}"/>
                </a:ext>
              </a:extLst>
            </p:cNvPr>
            <p:cNvSpPr/>
            <p:nvPr/>
          </p:nvSpPr>
          <p:spPr>
            <a:xfrm>
              <a:off x="511370" y="845061"/>
              <a:ext cx="1512444" cy="12134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A9A252-E1FC-0868-AA84-FEBD711DEBCE}"/>
                </a:ext>
              </a:extLst>
            </p:cNvPr>
            <p:cNvSpPr/>
            <p:nvPr/>
          </p:nvSpPr>
          <p:spPr>
            <a:xfrm>
              <a:off x="2036815" y="845061"/>
              <a:ext cx="1512444" cy="12134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CFBCAA2-DB57-D191-F1EF-DD154978051C}"/>
              </a:ext>
            </a:extLst>
          </p:cNvPr>
          <p:cNvSpPr txBox="1"/>
          <p:nvPr/>
        </p:nvSpPr>
        <p:spPr>
          <a:xfrm>
            <a:off x="2903668" y="6433483"/>
            <a:ext cx="6622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ptos" panose="020B0004020202020204" pitchFamily="34" charset="0"/>
              </a:rPr>
              <a:t>Haoran Yan | hyan097@connect.hkust-gz.edu.cn</a:t>
            </a:r>
            <a:endParaRPr lang="zh-CN" altLang="en-US" sz="24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0B78F0-C56F-A9F6-EC84-19374EBE4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49" y="1163776"/>
            <a:ext cx="8420101" cy="367885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DB6C2D6-E82C-1A77-C1C1-0F96FF9918B2}"/>
              </a:ext>
            </a:extLst>
          </p:cNvPr>
          <p:cNvGrpSpPr/>
          <p:nvPr/>
        </p:nvGrpSpPr>
        <p:grpSpPr>
          <a:xfrm>
            <a:off x="0" y="6614928"/>
            <a:ext cx="12192000" cy="461665"/>
            <a:chOff x="0" y="6614928"/>
            <a:chExt cx="12192000" cy="46166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9D9B07-992E-BBFE-71A0-B75CC32726E4}"/>
                </a:ext>
              </a:extLst>
            </p:cNvPr>
            <p:cNvSpPr/>
            <p:nvPr/>
          </p:nvSpPr>
          <p:spPr>
            <a:xfrm>
              <a:off x="0" y="6614928"/>
              <a:ext cx="12192000" cy="24307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CDA86B-9F1E-5FFB-96F9-0622E826EC9D}"/>
                </a:ext>
              </a:extLst>
            </p:cNvPr>
            <p:cNvSpPr txBox="1"/>
            <p:nvPr/>
          </p:nvSpPr>
          <p:spPr>
            <a:xfrm>
              <a:off x="1" y="6614928"/>
              <a:ext cx="12191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Injected and Leaked: Actively Inducing Side-Channel Leakage Using Electromagnetic Injection and Hardware Nonlinearity | </a:t>
              </a:r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https://injecteave.github.io/</a:t>
              </a:r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6A84497-5BD2-C890-C7DE-69868AE18212}"/>
              </a:ext>
            </a:extLst>
          </p:cNvPr>
          <p:cNvSpPr txBox="1"/>
          <p:nvPr/>
        </p:nvSpPr>
        <p:spPr>
          <a:xfrm>
            <a:off x="3283369" y="5351470"/>
            <a:ext cx="56252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 the QR code to </a:t>
            </a:r>
          </a:p>
          <a:p>
            <a:pPr algn="ctr"/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hear the eavesdropped audio!</a:t>
            </a:r>
            <a:endParaRPr lang="zh-CN" altLang="en-US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91B37B-40C1-2BD4-7B55-CAD766113F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0" t="9486" r="8706" b="8808"/>
          <a:stretch>
            <a:fillRect/>
          </a:stretch>
        </p:blipFill>
        <p:spPr>
          <a:xfrm>
            <a:off x="10363273" y="4997119"/>
            <a:ext cx="1403278" cy="13992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8046EB9-357B-F16E-4C4B-9048B08CA3D3}"/>
              </a:ext>
            </a:extLst>
          </p:cNvPr>
          <p:cNvSpPr txBox="1"/>
          <p:nvPr/>
        </p:nvSpPr>
        <p:spPr>
          <a:xfrm>
            <a:off x="3630035" y="4797064"/>
            <a:ext cx="49319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Long-distance audio eavesdropping setup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673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A8E72-D2FC-D6B2-915E-FC5E4A60C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25542BB-8D8A-29A2-3FFD-EF6B3C6BB983}"/>
              </a:ext>
            </a:extLst>
          </p:cNvPr>
          <p:cNvGrpSpPr/>
          <p:nvPr/>
        </p:nvGrpSpPr>
        <p:grpSpPr>
          <a:xfrm>
            <a:off x="447870" y="845062"/>
            <a:ext cx="2736655" cy="112202"/>
            <a:chOff x="511370" y="845061"/>
            <a:chExt cx="3037889" cy="12134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9C3EAE1-E566-0060-E3BD-35EAB2E847AB}"/>
                </a:ext>
              </a:extLst>
            </p:cNvPr>
            <p:cNvSpPr/>
            <p:nvPr/>
          </p:nvSpPr>
          <p:spPr>
            <a:xfrm>
              <a:off x="511370" y="845061"/>
              <a:ext cx="1512444" cy="12134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520F30-CF38-8BDC-8CA6-B58C7D340E5F}"/>
                </a:ext>
              </a:extLst>
            </p:cNvPr>
            <p:cNvSpPr/>
            <p:nvPr/>
          </p:nvSpPr>
          <p:spPr>
            <a:xfrm>
              <a:off x="2036815" y="845061"/>
              <a:ext cx="1512444" cy="12134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387689F-49EF-E768-3B9E-DEC59BFF3004}"/>
              </a:ext>
            </a:extLst>
          </p:cNvPr>
          <p:cNvSpPr txBox="1"/>
          <p:nvPr/>
        </p:nvSpPr>
        <p:spPr>
          <a:xfrm>
            <a:off x="447870" y="165306"/>
            <a:ext cx="52613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EM Side Channel Leakage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12C984-C8FD-172C-6FF8-A3D7E54C8A54}"/>
              </a:ext>
            </a:extLst>
          </p:cNvPr>
          <p:cNvSpPr txBox="1"/>
          <p:nvPr/>
        </p:nvSpPr>
        <p:spPr>
          <a:xfrm>
            <a:off x="1129106" y="1353144"/>
            <a:ext cx="4327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Passive EM Side Channel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5E7E48-CB9D-6765-1754-A9E44BB2F5DB}"/>
              </a:ext>
            </a:extLst>
          </p:cNvPr>
          <p:cNvGrpSpPr/>
          <p:nvPr/>
        </p:nvGrpSpPr>
        <p:grpSpPr>
          <a:xfrm>
            <a:off x="645336" y="2077703"/>
            <a:ext cx="5078377" cy="3098828"/>
            <a:chOff x="645336" y="2311656"/>
            <a:chExt cx="5078377" cy="309882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C2190AF-0F72-231F-2825-0FF75A46468A}"/>
                </a:ext>
              </a:extLst>
            </p:cNvPr>
            <p:cNvSpPr/>
            <p:nvPr/>
          </p:nvSpPr>
          <p:spPr>
            <a:xfrm>
              <a:off x="645336" y="2311656"/>
              <a:ext cx="5078377" cy="309882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442B8C8-B4E6-C14A-9680-BE25119EEF06}"/>
                </a:ext>
              </a:extLst>
            </p:cNvPr>
            <p:cNvSpPr txBox="1"/>
            <p:nvPr/>
          </p:nvSpPr>
          <p:spPr>
            <a:xfrm>
              <a:off x="1472281" y="2800337"/>
              <a:ext cx="364077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MagEar</a:t>
              </a:r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 [Liao et al., 2022]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372ADD9-ACD4-7FCA-45FF-FC9CB7D27E0E}"/>
                </a:ext>
              </a:extLst>
            </p:cNvPr>
            <p:cNvSpPr txBox="1"/>
            <p:nvPr/>
          </p:nvSpPr>
          <p:spPr>
            <a:xfrm>
              <a:off x="1142742" y="4062150"/>
              <a:ext cx="408356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Periscope [Chen et al., 2024]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C53B861-AE0A-295C-5ECD-CBBC7C0C3E0D}"/>
                </a:ext>
              </a:extLst>
            </p:cNvPr>
            <p:cNvSpPr txBox="1"/>
            <p:nvPr/>
          </p:nvSpPr>
          <p:spPr>
            <a:xfrm>
              <a:off x="2357214" y="3202538"/>
              <a:ext cx="16546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 60 cm</a:t>
              </a:r>
              <a:endPara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E8098F-88E4-16EC-3BA4-CE2CBF8AB572}"/>
                </a:ext>
              </a:extLst>
            </p:cNvPr>
            <p:cNvSpPr txBox="1"/>
            <p:nvPr/>
          </p:nvSpPr>
          <p:spPr>
            <a:xfrm>
              <a:off x="2289085" y="4506264"/>
              <a:ext cx="17908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 1.05 m</a:t>
              </a:r>
              <a:endPara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92D4E1B-E5FC-9A37-2B8A-D8BCC7772EBE}"/>
              </a:ext>
            </a:extLst>
          </p:cNvPr>
          <p:cNvGrpSpPr/>
          <p:nvPr/>
        </p:nvGrpSpPr>
        <p:grpSpPr>
          <a:xfrm>
            <a:off x="0" y="6614928"/>
            <a:ext cx="12192000" cy="461665"/>
            <a:chOff x="0" y="6614928"/>
            <a:chExt cx="12192000" cy="46166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3696154-A1D5-A23D-C9B6-04CB62466AF9}"/>
                </a:ext>
              </a:extLst>
            </p:cNvPr>
            <p:cNvSpPr/>
            <p:nvPr/>
          </p:nvSpPr>
          <p:spPr>
            <a:xfrm>
              <a:off x="0" y="6614928"/>
              <a:ext cx="12192000" cy="24307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8C68D14-8A82-4A7F-7821-4A3002827D5D}"/>
                </a:ext>
              </a:extLst>
            </p:cNvPr>
            <p:cNvSpPr txBox="1"/>
            <p:nvPr/>
          </p:nvSpPr>
          <p:spPr>
            <a:xfrm>
              <a:off x="1" y="6614928"/>
              <a:ext cx="12191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Injected and Leaked: Actively Inducing Side-Channel Leakage Using Electromagnetic Injection and Hardware Nonlinearity | </a:t>
              </a:r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https://injecteave.github.io/</a:t>
              </a:r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EBA0DF1-3580-29C6-1B7F-77E2900F3074}"/>
              </a:ext>
            </a:extLst>
          </p:cNvPr>
          <p:cNvSpPr txBox="1"/>
          <p:nvPr/>
        </p:nvSpPr>
        <p:spPr>
          <a:xfrm>
            <a:off x="1025989" y="5343391"/>
            <a:ext cx="45333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Inefficient EM radiation and</a:t>
            </a:r>
          </a:p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low-SNR passive leakage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932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5F5E6-C24D-1732-1F68-C47F904AB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97BBB0B-A15E-7A9C-5AAE-FFBEA01D4113}"/>
              </a:ext>
            </a:extLst>
          </p:cNvPr>
          <p:cNvGrpSpPr/>
          <p:nvPr/>
        </p:nvGrpSpPr>
        <p:grpSpPr>
          <a:xfrm>
            <a:off x="447870" y="845062"/>
            <a:ext cx="2736655" cy="112202"/>
            <a:chOff x="511370" y="845061"/>
            <a:chExt cx="3037889" cy="12134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20EB7B3-4624-67A3-9C5B-937F55CD145B}"/>
                </a:ext>
              </a:extLst>
            </p:cNvPr>
            <p:cNvSpPr/>
            <p:nvPr/>
          </p:nvSpPr>
          <p:spPr>
            <a:xfrm>
              <a:off x="511370" y="845061"/>
              <a:ext cx="1512444" cy="12134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340A15-75E5-F515-2D59-01B0E9153165}"/>
                </a:ext>
              </a:extLst>
            </p:cNvPr>
            <p:cNvSpPr/>
            <p:nvPr/>
          </p:nvSpPr>
          <p:spPr>
            <a:xfrm>
              <a:off x="2036815" y="845061"/>
              <a:ext cx="1512444" cy="12134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A791EB5-98E3-EF61-6ADD-74A210F5C838}"/>
              </a:ext>
            </a:extLst>
          </p:cNvPr>
          <p:cNvSpPr txBox="1"/>
          <p:nvPr/>
        </p:nvSpPr>
        <p:spPr>
          <a:xfrm>
            <a:off x="447870" y="165306"/>
            <a:ext cx="52613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EM Side Channel Leakage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5FFB3B-F30E-9415-1B04-E9227FD3AFAF}"/>
              </a:ext>
            </a:extLst>
          </p:cNvPr>
          <p:cNvSpPr txBox="1"/>
          <p:nvPr/>
        </p:nvSpPr>
        <p:spPr>
          <a:xfrm>
            <a:off x="1129106" y="1353144"/>
            <a:ext cx="4327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Passive EM Side Channel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5EE8C4-B6C8-D14A-2E4C-2850398FB548}"/>
              </a:ext>
            </a:extLst>
          </p:cNvPr>
          <p:cNvSpPr txBox="1"/>
          <p:nvPr/>
        </p:nvSpPr>
        <p:spPr>
          <a:xfrm>
            <a:off x="7172293" y="1353144"/>
            <a:ext cx="40607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EM Side Channel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5325921-C879-0F3D-735E-E50395D1672E}"/>
              </a:ext>
            </a:extLst>
          </p:cNvPr>
          <p:cNvGrpSpPr/>
          <p:nvPr/>
        </p:nvGrpSpPr>
        <p:grpSpPr>
          <a:xfrm>
            <a:off x="645336" y="2077703"/>
            <a:ext cx="5078377" cy="3098828"/>
            <a:chOff x="645336" y="2311656"/>
            <a:chExt cx="5078377" cy="309882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40E8BEB-9CA8-4DCE-08CB-699D103B9528}"/>
                </a:ext>
              </a:extLst>
            </p:cNvPr>
            <p:cNvSpPr/>
            <p:nvPr/>
          </p:nvSpPr>
          <p:spPr>
            <a:xfrm>
              <a:off x="645336" y="2311656"/>
              <a:ext cx="5078377" cy="309882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ADAEEF-BAC7-7809-5D79-CFC9E1F51261}"/>
                </a:ext>
              </a:extLst>
            </p:cNvPr>
            <p:cNvSpPr txBox="1"/>
            <p:nvPr/>
          </p:nvSpPr>
          <p:spPr>
            <a:xfrm>
              <a:off x="1472281" y="2800337"/>
              <a:ext cx="364077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MagEar</a:t>
              </a:r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 [Liao et al., 2022]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2A4E872-4297-A5F0-BD26-5D0B7A738C07}"/>
                </a:ext>
              </a:extLst>
            </p:cNvPr>
            <p:cNvSpPr txBox="1"/>
            <p:nvPr/>
          </p:nvSpPr>
          <p:spPr>
            <a:xfrm>
              <a:off x="1142742" y="4062150"/>
              <a:ext cx="408356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rPr>
                <a:t>Periscope [Chen et al., 2024]</a:t>
              </a:r>
              <a:endParaRPr lang="zh-CN" altLang="en-US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DB9D789-74E0-AE4A-6853-3F09AA58FFE9}"/>
                </a:ext>
              </a:extLst>
            </p:cNvPr>
            <p:cNvSpPr txBox="1"/>
            <p:nvPr/>
          </p:nvSpPr>
          <p:spPr>
            <a:xfrm>
              <a:off x="2357214" y="3202538"/>
              <a:ext cx="16546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 60 cm</a:t>
              </a:r>
              <a:endPara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D4C2332-EACF-BF5B-5B2E-BEF4EE5F2345}"/>
                </a:ext>
              </a:extLst>
            </p:cNvPr>
            <p:cNvSpPr txBox="1"/>
            <p:nvPr/>
          </p:nvSpPr>
          <p:spPr>
            <a:xfrm>
              <a:off x="2289085" y="4506264"/>
              <a:ext cx="17908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&lt; 1.05 m</a:t>
              </a:r>
              <a:endPara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51B8A5B-D4EB-7AA1-057B-4F164BA1FE34}"/>
              </a:ext>
            </a:extLst>
          </p:cNvPr>
          <p:cNvGrpSpPr/>
          <p:nvPr/>
        </p:nvGrpSpPr>
        <p:grpSpPr>
          <a:xfrm>
            <a:off x="6468289" y="1970653"/>
            <a:ext cx="5187497" cy="3165413"/>
            <a:chOff x="6788603" y="2245071"/>
            <a:chExt cx="5187497" cy="316541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BF9ABA-697C-D361-5119-C033D41EA87C}"/>
                </a:ext>
              </a:extLst>
            </p:cNvPr>
            <p:cNvSpPr/>
            <p:nvPr/>
          </p:nvSpPr>
          <p:spPr>
            <a:xfrm>
              <a:off x="6788603" y="2245071"/>
              <a:ext cx="5187497" cy="316541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A2D20A4-278A-8B04-8ECD-3CBF37A74275}"/>
                </a:ext>
              </a:extLst>
            </p:cNvPr>
            <p:cNvSpPr txBox="1"/>
            <p:nvPr/>
          </p:nvSpPr>
          <p:spPr>
            <a:xfrm>
              <a:off x="7643645" y="2981573"/>
              <a:ext cx="387722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200" dirty="0">
                  <a:latin typeface="Arial" panose="020B0604020202020204" pitchFamily="34" charset="0"/>
                  <a:cs typeface="Arial" panose="020B0604020202020204" pitchFamily="34" charset="0"/>
                </a:rPr>
                <a:t>Our work </a:t>
              </a:r>
              <a:r>
                <a:rPr lang="en-US" altLang="zh-CN" sz="3200" dirty="0" err="1">
                  <a:latin typeface="Arial" panose="020B0604020202020204" pitchFamily="34" charset="0"/>
                  <a:cs typeface="Arial" panose="020B0604020202020204" pitchFamily="34" charset="0"/>
                </a:rPr>
                <a:t>InjectEave</a:t>
              </a:r>
              <a:endParaRPr lang="en-US" altLang="zh-CN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2B60004-DBC5-32E4-C62B-1E1A9DEBAA0A}"/>
                </a:ext>
              </a:extLst>
            </p:cNvPr>
            <p:cNvSpPr txBox="1"/>
            <p:nvPr/>
          </p:nvSpPr>
          <p:spPr>
            <a:xfrm>
              <a:off x="8331899" y="3733283"/>
              <a:ext cx="208582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 30 m</a:t>
              </a:r>
              <a:endParaRPr lang="zh-CN" altLang="en-US" sz="4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240BCC3-ACA8-4DD6-D5C5-474F7712BE17}"/>
              </a:ext>
            </a:extLst>
          </p:cNvPr>
          <p:cNvGrpSpPr/>
          <p:nvPr/>
        </p:nvGrpSpPr>
        <p:grpSpPr>
          <a:xfrm>
            <a:off x="0" y="6614928"/>
            <a:ext cx="12192000" cy="461665"/>
            <a:chOff x="0" y="6614928"/>
            <a:chExt cx="12192000" cy="46166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5587A3D-5D84-A633-7C85-DD7A1B3290E7}"/>
                </a:ext>
              </a:extLst>
            </p:cNvPr>
            <p:cNvSpPr/>
            <p:nvPr/>
          </p:nvSpPr>
          <p:spPr>
            <a:xfrm>
              <a:off x="0" y="6614928"/>
              <a:ext cx="12192000" cy="24307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C8A5A96-D47A-E410-9AB3-B453BA38E47A}"/>
                </a:ext>
              </a:extLst>
            </p:cNvPr>
            <p:cNvSpPr txBox="1"/>
            <p:nvPr/>
          </p:nvSpPr>
          <p:spPr>
            <a:xfrm>
              <a:off x="1" y="6614928"/>
              <a:ext cx="12191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Injected and Leaked | </a:t>
              </a:r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https://injecteave.github.io/</a:t>
              </a:r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5A6AB3C-403A-4406-0420-9DFE15657930}"/>
              </a:ext>
            </a:extLst>
          </p:cNvPr>
          <p:cNvSpPr txBox="1"/>
          <p:nvPr/>
        </p:nvSpPr>
        <p:spPr>
          <a:xfrm>
            <a:off x="6701811" y="5343391"/>
            <a:ext cx="50016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Actively 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amplifies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controls</a:t>
            </a:r>
          </a:p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weak leakage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E8F57A-5E1F-02A8-1853-B3B7291D26F3}"/>
              </a:ext>
            </a:extLst>
          </p:cNvPr>
          <p:cNvSpPr txBox="1"/>
          <p:nvPr/>
        </p:nvSpPr>
        <p:spPr>
          <a:xfrm>
            <a:off x="1025989" y="5343391"/>
            <a:ext cx="45333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Inefficient EM radiation and</a:t>
            </a:r>
          </a:p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low-SNR passive leakage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725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7A66D-D74A-ABAB-F6F5-2A98100C1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DE9512-F766-72E7-B103-BB95A2182245}"/>
              </a:ext>
            </a:extLst>
          </p:cNvPr>
          <p:cNvSpPr txBox="1"/>
          <p:nvPr/>
        </p:nvSpPr>
        <p:spPr>
          <a:xfrm>
            <a:off x="447870" y="189398"/>
            <a:ext cx="9798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Key Idea: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EM Side-channel Eavesdropping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2C5C87-978B-A528-7D26-17CF47204483}"/>
              </a:ext>
            </a:extLst>
          </p:cNvPr>
          <p:cNvGrpSpPr/>
          <p:nvPr/>
        </p:nvGrpSpPr>
        <p:grpSpPr>
          <a:xfrm>
            <a:off x="447870" y="845062"/>
            <a:ext cx="2736655" cy="112202"/>
            <a:chOff x="511370" y="845061"/>
            <a:chExt cx="3037889" cy="1213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B8110F9-D574-AEE1-C810-EAC40BD5B825}"/>
                </a:ext>
              </a:extLst>
            </p:cNvPr>
            <p:cNvSpPr/>
            <p:nvPr/>
          </p:nvSpPr>
          <p:spPr>
            <a:xfrm>
              <a:off x="511370" y="845061"/>
              <a:ext cx="1512444" cy="12134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3CA9C5-9AF9-1E02-E5A4-A559CF1C3DA1}"/>
                </a:ext>
              </a:extLst>
            </p:cNvPr>
            <p:cNvSpPr/>
            <p:nvPr/>
          </p:nvSpPr>
          <p:spPr>
            <a:xfrm>
              <a:off x="2036815" y="845061"/>
              <a:ext cx="1512444" cy="12134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46D09E03-3A14-BDAD-AB13-2733D03C1DDC}"/>
              </a:ext>
            </a:extLst>
          </p:cNvPr>
          <p:cNvSpPr txBox="1"/>
          <p:nvPr/>
        </p:nvSpPr>
        <p:spPr>
          <a:xfrm>
            <a:off x="2903668" y="6433483"/>
            <a:ext cx="6884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Haoran Yan | hyan097@connect.hkust-gz.edu.cn</a:t>
            </a:r>
            <a:endParaRPr lang="zh-CN" alt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489214-8FC3-43CE-754F-BE79CEED50C7}"/>
              </a:ext>
            </a:extLst>
          </p:cNvPr>
          <p:cNvGrpSpPr/>
          <p:nvPr/>
        </p:nvGrpSpPr>
        <p:grpSpPr>
          <a:xfrm>
            <a:off x="0" y="6614928"/>
            <a:ext cx="12192000" cy="461665"/>
            <a:chOff x="0" y="6614928"/>
            <a:chExt cx="12192000" cy="46166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D78C35-5AF4-050E-213F-4B76DB2EAB8E}"/>
                </a:ext>
              </a:extLst>
            </p:cNvPr>
            <p:cNvSpPr/>
            <p:nvPr/>
          </p:nvSpPr>
          <p:spPr>
            <a:xfrm>
              <a:off x="0" y="6614928"/>
              <a:ext cx="12192000" cy="24307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FACFE1-8C58-9659-D46B-FECF771B8032}"/>
                </a:ext>
              </a:extLst>
            </p:cNvPr>
            <p:cNvSpPr txBox="1"/>
            <p:nvPr/>
          </p:nvSpPr>
          <p:spPr>
            <a:xfrm>
              <a:off x="1" y="6614928"/>
              <a:ext cx="12191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Injected and Leaked: Actively Inducing Side-Channel Leakage Using Electromagnetic Injection and Hardware Nonlinearity | </a:t>
              </a:r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https://injecteave.github.io/</a:t>
              </a:r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55BD970-02C7-1412-60C1-CE9480242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25" y="1447749"/>
            <a:ext cx="8763000" cy="18207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82D8D1-6D4B-F62B-2B1B-C2C79B9D1A0B}"/>
              </a:ext>
            </a:extLst>
          </p:cNvPr>
          <p:cNvSpPr txBox="1"/>
          <p:nvPr/>
        </p:nvSpPr>
        <p:spPr>
          <a:xfrm>
            <a:off x="1485015" y="3412673"/>
            <a:ext cx="87140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Injected EM carriers can piggyback secret signals, 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overcoming the mismatch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between target signal frequencies and efficient EM emissions.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353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027CC-6028-9F93-1474-FAE65FB74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7D71AC-7A47-6DBD-D62F-6ECD535C58CF}"/>
              </a:ext>
            </a:extLst>
          </p:cNvPr>
          <p:cNvSpPr txBox="1"/>
          <p:nvPr/>
        </p:nvSpPr>
        <p:spPr>
          <a:xfrm>
            <a:off x="447870" y="189398"/>
            <a:ext cx="9798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Key Idea: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Active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EM Side-channel Eavesdropping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9D2D3C-8C3F-EEEA-0E4D-D7BB31FF895D}"/>
              </a:ext>
            </a:extLst>
          </p:cNvPr>
          <p:cNvGrpSpPr/>
          <p:nvPr/>
        </p:nvGrpSpPr>
        <p:grpSpPr>
          <a:xfrm>
            <a:off x="447870" y="845062"/>
            <a:ext cx="2736655" cy="112202"/>
            <a:chOff x="511370" y="845061"/>
            <a:chExt cx="3037889" cy="1213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44BFE21-460A-F8DD-FA78-74F43D9880A8}"/>
                </a:ext>
              </a:extLst>
            </p:cNvPr>
            <p:cNvSpPr/>
            <p:nvPr/>
          </p:nvSpPr>
          <p:spPr>
            <a:xfrm>
              <a:off x="511370" y="845061"/>
              <a:ext cx="1512444" cy="12134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E5DC08-4C8C-D4BE-59DB-DD29FD18FC92}"/>
                </a:ext>
              </a:extLst>
            </p:cNvPr>
            <p:cNvSpPr/>
            <p:nvPr/>
          </p:nvSpPr>
          <p:spPr>
            <a:xfrm>
              <a:off x="2036815" y="845061"/>
              <a:ext cx="1512444" cy="12134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6A58D22-28C6-E694-0A29-3FD70EF47BB7}"/>
              </a:ext>
            </a:extLst>
          </p:cNvPr>
          <p:cNvSpPr txBox="1"/>
          <p:nvPr/>
        </p:nvSpPr>
        <p:spPr>
          <a:xfrm>
            <a:off x="2903668" y="6433483"/>
            <a:ext cx="6884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Haoran Yan | hyan097@connect.hkust-gz.edu.cn</a:t>
            </a:r>
            <a:endParaRPr lang="zh-CN" alt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E739C5-1AAD-A216-14C1-9393DD624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25" y="1447749"/>
            <a:ext cx="8763000" cy="18207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E37F88-F548-F373-E09D-395CF9DF7951}"/>
              </a:ext>
            </a:extLst>
          </p:cNvPr>
          <p:cNvSpPr txBox="1"/>
          <p:nvPr/>
        </p:nvSpPr>
        <p:spPr>
          <a:xfrm>
            <a:off x="1485015" y="3412673"/>
            <a:ext cx="87140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Injected EM carriers can piggyback secret signals, 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overcoming the mismatch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between target signal frequencies and efficient EM emissions.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ADA563-3F45-9C6D-ED68-1BDAEF382CF3}"/>
              </a:ext>
            </a:extLst>
          </p:cNvPr>
          <p:cNvSpPr txBox="1"/>
          <p:nvPr/>
        </p:nvSpPr>
        <p:spPr>
          <a:xfrm>
            <a:off x="1460525" y="4554294"/>
            <a:ext cx="95875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No software/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hardware modification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Inherent hardware nonlinearity (not wireless flaws)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External physical eavesdropper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CB7C55-BF98-0AF3-F092-26EE61FBEBE0}"/>
              </a:ext>
            </a:extLst>
          </p:cNvPr>
          <p:cNvGrpSpPr/>
          <p:nvPr/>
        </p:nvGrpSpPr>
        <p:grpSpPr>
          <a:xfrm>
            <a:off x="0" y="6614928"/>
            <a:ext cx="12192000" cy="461665"/>
            <a:chOff x="0" y="6614928"/>
            <a:chExt cx="12192000" cy="46166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3EF59F-B237-31E9-2200-45EBF0488F25}"/>
                </a:ext>
              </a:extLst>
            </p:cNvPr>
            <p:cNvSpPr/>
            <p:nvPr/>
          </p:nvSpPr>
          <p:spPr>
            <a:xfrm>
              <a:off x="0" y="6614928"/>
              <a:ext cx="12192000" cy="24307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78898F-2111-3DFF-3D80-DED92DA2971E}"/>
                </a:ext>
              </a:extLst>
            </p:cNvPr>
            <p:cNvSpPr txBox="1"/>
            <p:nvPr/>
          </p:nvSpPr>
          <p:spPr>
            <a:xfrm>
              <a:off x="1" y="6614928"/>
              <a:ext cx="12191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Injected and Leaked: Actively Inducing Side-Channel Leakage Using Electromagnetic Injection and Hardware Nonlinearity | </a:t>
              </a:r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https://injecteave.github.io/</a:t>
              </a:r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5382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98F8B-6078-7D95-4719-970C6A05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5585CBE-4DFA-D108-31EB-B033C91DECCD}"/>
              </a:ext>
            </a:extLst>
          </p:cNvPr>
          <p:cNvSpPr txBox="1"/>
          <p:nvPr/>
        </p:nvSpPr>
        <p:spPr>
          <a:xfrm>
            <a:off x="444377" y="160509"/>
            <a:ext cx="65178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Works Across Everyday Devices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D64293-B9C3-9E36-75B3-D1C48EE04D02}"/>
              </a:ext>
            </a:extLst>
          </p:cNvPr>
          <p:cNvGrpSpPr/>
          <p:nvPr/>
        </p:nvGrpSpPr>
        <p:grpSpPr>
          <a:xfrm>
            <a:off x="447870" y="845062"/>
            <a:ext cx="2736655" cy="112202"/>
            <a:chOff x="511370" y="845061"/>
            <a:chExt cx="3037889" cy="1213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9424E0C-0796-E7F6-6A57-C1328557E60F}"/>
                </a:ext>
              </a:extLst>
            </p:cNvPr>
            <p:cNvSpPr/>
            <p:nvPr/>
          </p:nvSpPr>
          <p:spPr>
            <a:xfrm>
              <a:off x="511370" y="845061"/>
              <a:ext cx="1512444" cy="12134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05FAD1-241F-1C4D-D4C0-95705C45035E}"/>
                </a:ext>
              </a:extLst>
            </p:cNvPr>
            <p:cNvSpPr/>
            <p:nvPr/>
          </p:nvSpPr>
          <p:spPr>
            <a:xfrm>
              <a:off x="2036815" y="845061"/>
              <a:ext cx="1512444" cy="12134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CBAD988-0049-70C9-B313-472B29A5B7B3}"/>
              </a:ext>
            </a:extLst>
          </p:cNvPr>
          <p:cNvSpPr txBox="1"/>
          <p:nvPr/>
        </p:nvSpPr>
        <p:spPr>
          <a:xfrm>
            <a:off x="2903668" y="6433483"/>
            <a:ext cx="6884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Haoran Yan | hyan097@connect.hkust-gz.edu.cn</a:t>
            </a:r>
            <a:endParaRPr lang="zh-CN" alt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FD4AF5-E007-E736-2C2E-80F64770DA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328" b="12119"/>
          <a:stretch>
            <a:fillRect/>
          </a:stretch>
        </p:blipFill>
        <p:spPr>
          <a:xfrm>
            <a:off x="5373990" y="1932214"/>
            <a:ext cx="6222706" cy="28102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FFE91C-E6B3-F565-CE50-AD27DA9608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30" r="5188"/>
          <a:stretch>
            <a:fillRect/>
          </a:stretch>
        </p:blipFill>
        <p:spPr>
          <a:xfrm>
            <a:off x="444377" y="1969073"/>
            <a:ext cx="4309326" cy="273654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78766CA-A2A0-3CAD-CC5F-58AE2691E007}"/>
              </a:ext>
            </a:extLst>
          </p:cNvPr>
          <p:cNvSpPr txBox="1"/>
          <p:nvPr/>
        </p:nvSpPr>
        <p:spPr>
          <a:xfrm>
            <a:off x="5433261" y="4809754"/>
            <a:ext cx="6104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Summary of Attacks on COTS Devices.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60E62-ED18-A1AE-A44C-172C13226D41}"/>
              </a:ext>
            </a:extLst>
          </p:cNvPr>
          <p:cNvSpPr txBox="1"/>
          <p:nvPr/>
        </p:nvSpPr>
        <p:spPr>
          <a:xfrm>
            <a:off x="757368" y="4736342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The hardware setup for evaluating COTS devices.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729891-010C-4E7C-D3A6-14E072D95769}"/>
              </a:ext>
            </a:extLst>
          </p:cNvPr>
          <p:cNvSpPr/>
          <p:nvPr/>
        </p:nvSpPr>
        <p:spPr>
          <a:xfrm>
            <a:off x="1901371" y="2032000"/>
            <a:ext cx="2184400" cy="83457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E1C1B7-22E4-8EB9-A890-8E987BD9BF3A}"/>
              </a:ext>
            </a:extLst>
          </p:cNvPr>
          <p:cNvSpPr txBox="1"/>
          <p:nvPr/>
        </p:nvSpPr>
        <p:spPr>
          <a:xfrm>
            <a:off x="-314874" y="1421448"/>
            <a:ext cx="61068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Tested Devices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92B11D-203D-53F2-1577-FC49F250B77F}"/>
              </a:ext>
            </a:extLst>
          </p:cNvPr>
          <p:cNvSpPr txBox="1"/>
          <p:nvPr/>
        </p:nvSpPr>
        <p:spPr>
          <a:xfrm>
            <a:off x="5396068" y="1395096"/>
            <a:ext cx="6178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types, 11 devices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D2FB7A6-41DF-F10E-E1FF-10360FD6E6CE}"/>
              </a:ext>
            </a:extLst>
          </p:cNvPr>
          <p:cNvGrpSpPr/>
          <p:nvPr/>
        </p:nvGrpSpPr>
        <p:grpSpPr>
          <a:xfrm>
            <a:off x="0" y="6614928"/>
            <a:ext cx="12192000" cy="461665"/>
            <a:chOff x="0" y="6614928"/>
            <a:chExt cx="12192000" cy="46166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6BA322-5DD4-3435-6F6A-4936B3DB314C}"/>
                </a:ext>
              </a:extLst>
            </p:cNvPr>
            <p:cNvSpPr/>
            <p:nvPr/>
          </p:nvSpPr>
          <p:spPr>
            <a:xfrm>
              <a:off x="0" y="6614928"/>
              <a:ext cx="12192000" cy="24307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9284078-DAA5-9B4D-F2AC-93817DC81F1B}"/>
                </a:ext>
              </a:extLst>
            </p:cNvPr>
            <p:cNvSpPr txBox="1"/>
            <p:nvPr/>
          </p:nvSpPr>
          <p:spPr>
            <a:xfrm>
              <a:off x="1" y="6614928"/>
              <a:ext cx="12191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Injected and Leaked: Actively Inducing Side-Channel Leakage Using Electromagnetic Injection and Hardware Nonlinearity | </a:t>
              </a:r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https://injecteave.github.io/</a:t>
              </a:r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2116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37464-A8F5-1C9F-60A4-29C34C661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AEDA0E-1543-7401-8349-368D66D5DE17}"/>
              </a:ext>
            </a:extLst>
          </p:cNvPr>
          <p:cNvSpPr txBox="1"/>
          <p:nvPr/>
        </p:nvSpPr>
        <p:spPr>
          <a:xfrm>
            <a:off x="447870" y="165306"/>
            <a:ext cx="86901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Case 2: Through Wall Audio Eavesdropping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B9FF4B5-502F-F4C9-AB40-55B6D9E23DA6}"/>
              </a:ext>
            </a:extLst>
          </p:cNvPr>
          <p:cNvGrpSpPr/>
          <p:nvPr/>
        </p:nvGrpSpPr>
        <p:grpSpPr>
          <a:xfrm>
            <a:off x="447870" y="845062"/>
            <a:ext cx="2736655" cy="112202"/>
            <a:chOff x="511370" y="845061"/>
            <a:chExt cx="3037889" cy="1213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B0F7BC-01BB-D132-89B0-1CE90E2DF7C5}"/>
                </a:ext>
              </a:extLst>
            </p:cNvPr>
            <p:cNvSpPr/>
            <p:nvPr/>
          </p:nvSpPr>
          <p:spPr>
            <a:xfrm>
              <a:off x="511370" y="845061"/>
              <a:ext cx="1512444" cy="12134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B8C9E5-58CE-75B6-6287-0F4AFFE8A7DF}"/>
                </a:ext>
              </a:extLst>
            </p:cNvPr>
            <p:cNvSpPr/>
            <p:nvPr/>
          </p:nvSpPr>
          <p:spPr>
            <a:xfrm>
              <a:off x="2036815" y="845061"/>
              <a:ext cx="1512444" cy="12134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3F6945A-013A-5C4D-55A5-D29121AADBD8}"/>
              </a:ext>
            </a:extLst>
          </p:cNvPr>
          <p:cNvGrpSpPr/>
          <p:nvPr/>
        </p:nvGrpSpPr>
        <p:grpSpPr>
          <a:xfrm>
            <a:off x="0" y="6614928"/>
            <a:ext cx="12192000" cy="461665"/>
            <a:chOff x="0" y="6614928"/>
            <a:chExt cx="12192000" cy="4616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60047F-54AD-6BCA-607F-49D1CC97A9FB}"/>
                </a:ext>
              </a:extLst>
            </p:cNvPr>
            <p:cNvSpPr/>
            <p:nvPr/>
          </p:nvSpPr>
          <p:spPr>
            <a:xfrm>
              <a:off x="0" y="6614928"/>
              <a:ext cx="12192000" cy="24307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ECD6414-EEB1-6D52-F012-525BCEAB53B6}"/>
                </a:ext>
              </a:extLst>
            </p:cNvPr>
            <p:cNvSpPr txBox="1"/>
            <p:nvPr/>
          </p:nvSpPr>
          <p:spPr>
            <a:xfrm>
              <a:off x="1" y="6614928"/>
              <a:ext cx="12191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Injected and Leaked: Actively Inducing Side-Channel Leakage Using Electromagnetic Injection and Hardware Nonlinearity | </a:t>
              </a:r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https://injecteave.github.io/</a:t>
              </a:r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7564909-4733-F187-9855-0DBDFF330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63" y="1941139"/>
            <a:ext cx="10798274" cy="34069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CCEF80-B1DC-E57A-376A-7D780A0D4292}"/>
              </a:ext>
            </a:extLst>
          </p:cNvPr>
          <p:cNvSpPr txBox="1"/>
          <p:nvPr/>
        </p:nvSpPr>
        <p:spPr>
          <a:xfrm>
            <a:off x="2188369" y="5427506"/>
            <a:ext cx="7815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Case studies of representative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through wall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audio eavesdropping scenarios.</a:t>
            </a:r>
          </a:p>
        </p:txBody>
      </p:sp>
    </p:spTree>
    <p:extLst>
      <p:ext uri="{BB962C8B-B14F-4D97-AF65-F5344CB8AC3E}">
        <p14:creationId xmlns:p14="http://schemas.microsoft.com/office/powerpoint/2010/main" val="735423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21870-09B2-8250-F83F-517D0577A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B0C1E66-765A-136B-0FB3-5820E71308BB}"/>
              </a:ext>
            </a:extLst>
          </p:cNvPr>
          <p:cNvSpPr txBox="1"/>
          <p:nvPr/>
        </p:nvSpPr>
        <p:spPr>
          <a:xfrm>
            <a:off x="447870" y="165306"/>
            <a:ext cx="8557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Case 3: Landline Closed-loop Manipulation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9565A7E-8740-DC58-839B-0329106711DC}"/>
              </a:ext>
            </a:extLst>
          </p:cNvPr>
          <p:cNvGrpSpPr/>
          <p:nvPr/>
        </p:nvGrpSpPr>
        <p:grpSpPr>
          <a:xfrm>
            <a:off x="447870" y="845062"/>
            <a:ext cx="2736655" cy="112202"/>
            <a:chOff x="511370" y="845061"/>
            <a:chExt cx="3037889" cy="1213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CD6EB5C-4668-09FC-D77B-8EB770768DF3}"/>
                </a:ext>
              </a:extLst>
            </p:cNvPr>
            <p:cNvSpPr/>
            <p:nvPr/>
          </p:nvSpPr>
          <p:spPr>
            <a:xfrm>
              <a:off x="511370" y="845061"/>
              <a:ext cx="1512444" cy="12134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FFF8F1A-20F4-9EFD-3C67-2C12F5D23ACA}"/>
                </a:ext>
              </a:extLst>
            </p:cNvPr>
            <p:cNvSpPr/>
            <p:nvPr/>
          </p:nvSpPr>
          <p:spPr>
            <a:xfrm>
              <a:off x="2036815" y="845061"/>
              <a:ext cx="1512444" cy="12134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6C31F9E-3EBA-B304-3F6E-81E361BA08E4}"/>
              </a:ext>
            </a:extLst>
          </p:cNvPr>
          <p:cNvSpPr txBox="1"/>
          <p:nvPr/>
        </p:nvSpPr>
        <p:spPr>
          <a:xfrm>
            <a:off x="2903668" y="6433483"/>
            <a:ext cx="6622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ptos" panose="020B0004020202020204" pitchFamily="34" charset="0"/>
              </a:rPr>
              <a:t>Haoran Yan | hyan097@connect.hkust-gz.edu.cn</a:t>
            </a:r>
            <a:endParaRPr lang="zh-CN" altLang="en-US" sz="24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9E286E-785F-7331-6B29-A7B541483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70" y="1957368"/>
            <a:ext cx="3923267" cy="348228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12DD078-4EDE-34AF-79C2-11B5B5A8B7BF}"/>
              </a:ext>
            </a:extLst>
          </p:cNvPr>
          <p:cNvSpPr txBox="1"/>
          <p:nvPr/>
        </p:nvSpPr>
        <p:spPr>
          <a:xfrm>
            <a:off x="4487082" y="4136700"/>
            <a:ext cx="657583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Eavesdropped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  " 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Yes, I agree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. " </a:t>
            </a:r>
          </a:p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Synthesized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  " Actually,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disagree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. "</a:t>
            </a:r>
          </a:p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zh-CN" sz="2800" b="1" dirty="0">
                <a:latin typeface="Arial" panose="020B0604020202020204" pitchFamily="34" charset="0"/>
                <a:cs typeface="Arial" panose="020B0604020202020204" pitchFamily="34" charset="0"/>
              </a:rPr>
              <a:t>injected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:  " Actually,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disagree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. "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0E2E348-656D-3443-0FF1-22E0DC4F674B}"/>
              </a:ext>
            </a:extLst>
          </p:cNvPr>
          <p:cNvGrpSpPr/>
          <p:nvPr/>
        </p:nvGrpSpPr>
        <p:grpSpPr>
          <a:xfrm>
            <a:off x="4533259" y="1960026"/>
            <a:ext cx="2202847" cy="2027213"/>
            <a:chOff x="4270367" y="1051470"/>
            <a:chExt cx="2202847" cy="202721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3BFCC2C-EA7E-863E-6AC8-9B0052718EE4}"/>
                </a:ext>
              </a:extLst>
            </p:cNvPr>
            <p:cNvSpPr txBox="1"/>
            <p:nvPr/>
          </p:nvSpPr>
          <p:spPr>
            <a:xfrm>
              <a:off x="4270367" y="2617018"/>
              <a:ext cx="22028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1: Eavesdrop 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A846198-60B3-02A5-261A-3A5B32AB4D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73897" y="1051470"/>
              <a:ext cx="1323205" cy="1323205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328004C-A049-CBC3-BD9A-5117E2686CDB}"/>
              </a:ext>
            </a:extLst>
          </p:cNvPr>
          <p:cNvGrpSpPr/>
          <p:nvPr/>
        </p:nvGrpSpPr>
        <p:grpSpPr>
          <a:xfrm>
            <a:off x="7076172" y="1866234"/>
            <a:ext cx="2236510" cy="2133729"/>
            <a:chOff x="7076172" y="971981"/>
            <a:chExt cx="2236510" cy="2133729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32C68CD-3FA2-91F4-5B3E-DBE9E71FDE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04377" y="971981"/>
              <a:ext cx="1467720" cy="146772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5218325-1875-9C51-1CAF-44F747814B3A}"/>
                </a:ext>
              </a:extLst>
            </p:cNvPr>
            <p:cNvSpPr txBox="1"/>
            <p:nvPr/>
          </p:nvSpPr>
          <p:spPr>
            <a:xfrm>
              <a:off x="7076172" y="2644045"/>
              <a:ext cx="22365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2: Synthesize </a:t>
              </a:r>
              <a:endParaRPr lang="en-US" altLang="zh-CN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B2731EE-194B-C01D-1F17-308F9B1A379E}"/>
              </a:ext>
            </a:extLst>
          </p:cNvPr>
          <p:cNvGrpSpPr/>
          <p:nvPr/>
        </p:nvGrpSpPr>
        <p:grpSpPr>
          <a:xfrm>
            <a:off x="9665700" y="1687608"/>
            <a:ext cx="1650006" cy="2312355"/>
            <a:chOff x="9879372" y="806489"/>
            <a:chExt cx="1650006" cy="2312355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BF5035BA-376B-27B0-3957-FA2C2D67B6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879372" y="806489"/>
              <a:ext cx="1650006" cy="1650006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6518EB9-C868-DB48-00CA-FD186484C193}"/>
                </a:ext>
              </a:extLst>
            </p:cNvPr>
            <p:cNvSpPr txBox="1"/>
            <p:nvPr/>
          </p:nvSpPr>
          <p:spPr>
            <a:xfrm>
              <a:off x="9974848" y="2657179"/>
              <a:ext cx="14318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3: Inject </a:t>
              </a:r>
              <a:endPara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8718960-995D-DC72-C583-4CF3B7E9A0D5}"/>
              </a:ext>
            </a:extLst>
          </p:cNvPr>
          <p:cNvGrpSpPr/>
          <p:nvPr/>
        </p:nvGrpSpPr>
        <p:grpSpPr>
          <a:xfrm>
            <a:off x="0" y="6614928"/>
            <a:ext cx="12192000" cy="461665"/>
            <a:chOff x="0" y="6614928"/>
            <a:chExt cx="12192000" cy="46166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7323197-7195-5FBD-BB41-E5FA87FC883D}"/>
                </a:ext>
              </a:extLst>
            </p:cNvPr>
            <p:cNvSpPr/>
            <p:nvPr/>
          </p:nvSpPr>
          <p:spPr>
            <a:xfrm>
              <a:off x="0" y="6614928"/>
              <a:ext cx="12192000" cy="24307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B133C7D-C15D-66D9-C6EE-37A5236841AD}"/>
                </a:ext>
              </a:extLst>
            </p:cNvPr>
            <p:cNvSpPr txBox="1"/>
            <p:nvPr/>
          </p:nvSpPr>
          <p:spPr>
            <a:xfrm>
              <a:off x="1" y="6614928"/>
              <a:ext cx="12191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Injected and Leaked: Actively Inducing Side-Channel Leakage Using Electromagnetic Injection and Hardware Nonlinearity | </a:t>
              </a:r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https://injecteave.github.io/</a:t>
              </a:r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9528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694E8-09E1-85F7-D285-C5B470E94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1935D36-D6F7-E714-393A-687E466D7F08}"/>
              </a:ext>
            </a:extLst>
          </p:cNvPr>
          <p:cNvSpPr txBox="1"/>
          <p:nvPr/>
        </p:nvSpPr>
        <p:spPr>
          <a:xfrm>
            <a:off x="447870" y="223138"/>
            <a:ext cx="92256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Better RF Hardware Pushes the Range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Further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F46935-B211-80BB-8362-D5EC0C104DE7}"/>
              </a:ext>
            </a:extLst>
          </p:cNvPr>
          <p:cNvGrpSpPr/>
          <p:nvPr/>
        </p:nvGrpSpPr>
        <p:grpSpPr>
          <a:xfrm>
            <a:off x="447870" y="845062"/>
            <a:ext cx="2736655" cy="112202"/>
            <a:chOff x="511370" y="845061"/>
            <a:chExt cx="3037889" cy="1213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AD2FEE-A966-6855-5B81-60EFF120A676}"/>
                </a:ext>
              </a:extLst>
            </p:cNvPr>
            <p:cNvSpPr/>
            <p:nvPr/>
          </p:nvSpPr>
          <p:spPr>
            <a:xfrm>
              <a:off x="511370" y="845061"/>
              <a:ext cx="1512444" cy="12134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447897-5A38-6F5F-EE11-1A7FC6E1F731}"/>
                </a:ext>
              </a:extLst>
            </p:cNvPr>
            <p:cNvSpPr/>
            <p:nvPr/>
          </p:nvSpPr>
          <p:spPr>
            <a:xfrm>
              <a:off x="2036815" y="845061"/>
              <a:ext cx="1512444" cy="12134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E71B455-D0E0-278E-72B2-74C2B6C1A212}"/>
              </a:ext>
            </a:extLst>
          </p:cNvPr>
          <p:cNvSpPr txBox="1"/>
          <p:nvPr/>
        </p:nvSpPr>
        <p:spPr>
          <a:xfrm>
            <a:off x="2903668" y="6433483"/>
            <a:ext cx="6884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Haoran Yan | hyan097@connect.hkust-gz.edu.cn</a:t>
            </a:r>
            <a:endParaRPr lang="zh-CN" alt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109E0F-2F52-4403-07E0-22953985BBAF}"/>
                  </a:ext>
                </a:extLst>
              </p:cNvPr>
              <p:cNvSpPr txBox="1"/>
              <p:nvPr/>
            </p:nvSpPr>
            <p:spPr>
              <a:xfrm>
                <a:off x="447870" y="1377809"/>
                <a:ext cx="5124905" cy="18187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en-US" altLang="zh-CN" sz="4000" b="1" i="1">
                          <a:latin typeface="Cambria Math" panose="02040503050406030204" pitchFamily="18" charset="0"/>
                        </a:rPr>
                        <m:t>∝</m:t>
                      </m:r>
                      <m:rad>
                        <m:radPr>
                          <m:degHide m:val="on"/>
                          <m:ctrlPr>
                            <a:rPr lang="en-US" altLang="zh-CN" sz="40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4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4000" b="1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4000" b="1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4000" b="1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4000" b="1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𝒊𝒏𝒋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4000" b="1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4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4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4000" b="1" i="1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4000" b="1" i="1">
                                          <a:latin typeface="Cambria Math" panose="02040503050406030204" pitchFamily="18" charset="0"/>
                                        </a:rPr>
                                        <m:t>𝒔𝒆𝒄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sz="40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1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altLang="zh-CN" sz="4000" b="1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𝒔𝒚𝒔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109E0F-2F52-4403-07E0-22953985B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70" y="1377809"/>
                <a:ext cx="5124905" cy="18187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2B8A900C-107B-67F0-E1E6-88DFDEAFFBCC}"/>
              </a:ext>
            </a:extLst>
          </p:cNvPr>
          <p:cNvSpPr txBox="1"/>
          <p:nvPr/>
        </p:nvSpPr>
        <p:spPr>
          <a:xfrm>
            <a:off x="7087961" y="1340660"/>
            <a:ext cx="61041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Maximum Eavesdropping Range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Injection Strength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Secret-Signal Strength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System Noise Floor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CE6EFC5-1FD1-02F7-D03B-03F39C3E2694}"/>
                  </a:ext>
                </a:extLst>
              </p:cNvPr>
              <p:cNvSpPr txBox="1"/>
              <p:nvPr/>
            </p:nvSpPr>
            <p:spPr>
              <a:xfrm>
                <a:off x="3353513" y="1311395"/>
                <a:ext cx="65314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CE6EFC5-1FD1-02F7-D03B-03F39C3E2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513" y="1311395"/>
                <a:ext cx="653142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BBDCD69-EF4C-B10A-A7C2-26F5D7DDC50F}"/>
                  </a:ext>
                </a:extLst>
              </p:cNvPr>
              <p:cNvSpPr txBox="1"/>
              <p:nvPr/>
            </p:nvSpPr>
            <p:spPr>
              <a:xfrm>
                <a:off x="3353513" y="1836653"/>
                <a:ext cx="6531428" cy="523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𝒊𝒏𝒋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1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BBDCD69-EF4C-B10A-A7C2-26F5D7DDC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513" y="1836653"/>
                <a:ext cx="6531428" cy="5230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8FA10B8-E2F2-97B2-38EB-A32EAD5B26B3}"/>
                  </a:ext>
                </a:extLst>
              </p:cNvPr>
              <p:cNvSpPr txBox="1"/>
              <p:nvPr/>
            </p:nvSpPr>
            <p:spPr>
              <a:xfrm>
                <a:off x="3353513" y="2399135"/>
                <a:ext cx="65314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𝒔𝒆𝒄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8FA10B8-E2F2-97B2-38EB-A32EAD5B2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513" y="2399135"/>
                <a:ext cx="6531428" cy="461665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9C5F3DA-13D0-55AA-C8BC-A7AA9968A082}"/>
                  </a:ext>
                </a:extLst>
              </p:cNvPr>
              <p:cNvSpPr txBox="1"/>
              <p:nvPr/>
            </p:nvSpPr>
            <p:spPr>
              <a:xfrm>
                <a:off x="3353513" y="2876465"/>
                <a:ext cx="6531428" cy="495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𝒔𝒚𝒔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9C5F3DA-13D0-55AA-C8BC-A7AA9968A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513" y="2876465"/>
                <a:ext cx="6531428" cy="495520"/>
              </a:xfrm>
              <a:prstGeom prst="rect">
                <a:avLst/>
              </a:prstGeom>
              <a:blipFill>
                <a:blip r:embed="rId7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F5D1E42F-7599-F97E-A683-0792A0ADF520}"/>
              </a:ext>
            </a:extLst>
          </p:cNvPr>
          <p:cNvGrpSpPr/>
          <p:nvPr/>
        </p:nvGrpSpPr>
        <p:grpSpPr>
          <a:xfrm>
            <a:off x="0" y="6614928"/>
            <a:ext cx="12192000" cy="461665"/>
            <a:chOff x="0" y="6614928"/>
            <a:chExt cx="12192000" cy="46166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7B13306-C8BF-F95E-B9C3-B46B12B0DB94}"/>
                </a:ext>
              </a:extLst>
            </p:cNvPr>
            <p:cNvSpPr/>
            <p:nvPr/>
          </p:nvSpPr>
          <p:spPr>
            <a:xfrm>
              <a:off x="0" y="6614928"/>
              <a:ext cx="12192000" cy="24307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2C4D03-79FB-A29C-A04B-38426A25A513}"/>
                </a:ext>
              </a:extLst>
            </p:cNvPr>
            <p:cNvSpPr txBox="1"/>
            <p:nvPr/>
          </p:nvSpPr>
          <p:spPr>
            <a:xfrm>
              <a:off x="1" y="6614928"/>
              <a:ext cx="12191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Injected and Leaked: Actively Inducing Side-Channel Leakage Using Electromagnetic Injection and Hardware Nonlinearity | </a:t>
              </a:r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https://injecteave.github.io/</a:t>
              </a:r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2286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BFED6-BB5A-57BC-38C0-FADF94E8C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3D9E36A-15F0-F9A5-9CF8-A183A2D10A93}"/>
              </a:ext>
            </a:extLst>
          </p:cNvPr>
          <p:cNvSpPr txBox="1"/>
          <p:nvPr/>
        </p:nvSpPr>
        <p:spPr>
          <a:xfrm>
            <a:off x="447870" y="223138"/>
            <a:ext cx="92256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Better RF Hardware Pushes the Range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Further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5A58F6-9AA8-1778-40AE-C9FC993E7B11}"/>
              </a:ext>
            </a:extLst>
          </p:cNvPr>
          <p:cNvGrpSpPr/>
          <p:nvPr/>
        </p:nvGrpSpPr>
        <p:grpSpPr>
          <a:xfrm>
            <a:off x="447870" y="845062"/>
            <a:ext cx="2736655" cy="112202"/>
            <a:chOff x="511370" y="845061"/>
            <a:chExt cx="3037889" cy="1213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00D990-A809-0EDB-A172-2DEC525700EE}"/>
                </a:ext>
              </a:extLst>
            </p:cNvPr>
            <p:cNvSpPr/>
            <p:nvPr/>
          </p:nvSpPr>
          <p:spPr>
            <a:xfrm>
              <a:off x="511370" y="845061"/>
              <a:ext cx="1512444" cy="12134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F247AB-538C-1DBB-0BDF-DB82A3C4BEFA}"/>
                </a:ext>
              </a:extLst>
            </p:cNvPr>
            <p:cNvSpPr/>
            <p:nvPr/>
          </p:nvSpPr>
          <p:spPr>
            <a:xfrm>
              <a:off x="2036815" y="845061"/>
              <a:ext cx="1512444" cy="12134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DCB6A47-20E3-D6AF-A54E-61DB3B0EA42E}"/>
              </a:ext>
            </a:extLst>
          </p:cNvPr>
          <p:cNvSpPr txBox="1"/>
          <p:nvPr/>
        </p:nvSpPr>
        <p:spPr>
          <a:xfrm>
            <a:off x="2903668" y="6433483"/>
            <a:ext cx="6884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Haoran Yan | hyan097@connect.hkust-gz.edu.cn</a:t>
            </a:r>
            <a:endParaRPr lang="zh-CN" alt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84D2149-FBCF-EA2C-125F-5013EB8B0A64}"/>
                  </a:ext>
                </a:extLst>
              </p:cNvPr>
              <p:cNvSpPr txBox="1"/>
              <p:nvPr/>
            </p:nvSpPr>
            <p:spPr>
              <a:xfrm>
                <a:off x="447870" y="1377809"/>
                <a:ext cx="5124905" cy="18187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4000" b="1" i="1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  <m:r>
                        <a:rPr lang="en-US" altLang="zh-CN" sz="4000" b="1" i="1">
                          <a:latin typeface="Cambria Math" panose="02040503050406030204" pitchFamily="18" charset="0"/>
                        </a:rPr>
                        <m:t>∝</m:t>
                      </m:r>
                      <m:rad>
                        <m:radPr>
                          <m:degHide m:val="on"/>
                          <m:ctrlPr>
                            <a:rPr lang="en-US" altLang="zh-CN" sz="40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4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4000" b="1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4000" b="1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4000" b="1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4000" b="1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𝒊𝒏𝒋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4000" b="1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4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4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4000" b="1" i="1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altLang="zh-CN" sz="4000" b="1" i="1">
                                          <a:latin typeface="Cambria Math" panose="02040503050406030204" pitchFamily="18" charset="0"/>
                                        </a:rPr>
                                        <m:t>𝒔𝒆𝒄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CN" sz="4000" b="1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000" b="1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𝑵</m:t>
                                  </m:r>
                                </m:e>
                                <m:sub>
                                  <m:r>
                                    <a:rPr lang="en-US" altLang="zh-CN" sz="4000" b="1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𝒔𝒚𝒔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84D2149-FBCF-EA2C-125F-5013EB8B0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70" y="1377809"/>
                <a:ext cx="5124905" cy="18187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15AE101A-FD52-7C87-9C26-E4D201DC82C2}"/>
              </a:ext>
            </a:extLst>
          </p:cNvPr>
          <p:cNvSpPr txBox="1"/>
          <p:nvPr/>
        </p:nvSpPr>
        <p:spPr>
          <a:xfrm>
            <a:off x="7087961" y="1340660"/>
            <a:ext cx="61041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Maximum Eavesdropping Range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Injection Strength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Secret-Signal Strength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System Noise Floor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478249C-FA16-CD42-A993-D1C993F69302}"/>
                  </a:ext>
                </a:extLst>
              </p:cNvPr>
              <p:cNvSpPr txBox="1"/>
              <p:nvPr/>
            </p:nvSpPr>
            <p:spPr>
              <a:xfrm>
                <a:off x="3353513" y="1311395"/>
                <a:ext cx="65314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478249C-FA16-CD42-A993-D1C993F69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513" y="1311395"/>
                <a:ext cx="653142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A403278-CAC6-4DAE-0C3D-D68E6D7B012A}"/>
                  </a:ext>
                </a:extLst>
              </p:cNvPr>
              <p:cNvSpPr txBox="1"/>
              <p:nvPr/>
            </p:nvSpPr>
            <p:spPr>
              <a:xfrm>
                <a:off x="3353513" y="1836653"/>
                <a:ext cx="6531428" cy="523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𝒊𝒏𝒋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1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A403278-CAC6-4DAE-0C3D-D68E6D7B0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513" y="1836653"/>
                <a:ext cx="6531428" cy="5230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50123B8-3BB0-2165-755E-D406FD5149A2}"/>
                  </a:ext>
                </a:extLst>
              </p:cNvPr>
              <p:cNvSpPr txBox="1"/>
              <p:nvPr/>
            </p:nvSpPr>
            <p:spPr>
              <a:xfrm>
                <a:off x="3353513" y="2399135"/>
                <a:ext cx="65314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𝒔𝒆𝒄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50123B8-3BB0-2165-755E-D406FD514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513" y="2399135"/>
                <a:ext cx="6531428" cy="461665"/>
              </a:xfrm>
              <a:prstGeom prst="rect">
                <a:avLst/>
              </a:prstGeom>
              <a:blipFill>
                <a:blip r:embed="rId6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2959F01-CBEE-C91E-C870-529F246521B0}"/>
                  </a:ext>
                </a:extLst>
              </p:cNvPr>
              <p:cNvSpPr txBox="1"/>
              <p:nvPr/>
            </p:nvSpPr>
            <p:spPr>
              <a:xfrm>
                <a:off x="3353513" y="2876465"/>
                <a:ext cx="6531428" cy="4955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𝒔𝒚𝒔</m:t>
                          </m:r>
                        </m:sub>
                      </m:sSub>
                    </m:oMath>
                  </m:oMathPara>
                </a14:m>
                <a:endParaRPr lang="zh-CN" altLang="en-US" sz="11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2959F01-CBEE-C91E-C870-529F24652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513" y="2876465"/>
                <a:ext cx="6531428" cy="495520"/>
              </a:xfrm>
              <a:prstGeom prst="rect">
                <a:avLst/>
              </a:prstGeom>
              <a:blipFill>
                <a:blip r:embed="rId7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C27873DE-0A1E-4479-8C61-F2AF719B6AF1}"/>
              </a:ext>
            </a:extLst>
          </p:cNvPr>
          <p:cNvGrpSpPr/>
          <p:nvPr/>
        </p:nvGrpSpPr>
        <p:grpSpPr>
          <a:xfrm>
            <a:off x="-1187903" y="3951952"/>
            <a:ext cx="12675053" cy="1594653"/>
            <a:chOff x="-2167618" y="4129340"/>
            <a:chExt cx="12675053" cy="15946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141A281-11F9-DFA8-B2BA-A7D404C764DC}"/>
                    </a:ext>
                  </a:extLst>
                </p:cNvPr>
                <p:cNvSpPr txBox="1"/>
                <p:nvPr/>
              </p:nvSpPr>
              <p:spPr>
                <a:xfrm>
                  <a:off x="-2167618" y="5057336"/>
                  <a:ext cx="7464878" cy="66665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en-US" altLang="zh-CN" sz="32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2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altLang="zh-CN" sz="3200" b="1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𝒊𝒏𝒋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2141A281-11F9-DFA8-B2BA-A7D404C764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167618" y="5057336"/>
                  <a:ext cx="7464878" cy="66665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775E672-795D-A25A-F87B-91A539C06D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7345" y="5094530"/>
              <a:ext cx="0" cy="562834"/>
            </a:xfrm>
            <a:prstGeom prst="straightConnector1">
              <a:avLst/>
            </a:prstGeom>
            <a:ln w="76200">
              <a:solidFill>
                <a:schemeClr val="accent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C6837FB-A901-7669-45D4-D9EF40538EBC}"/>
                </a:ext>
              </a:extLst>
            </p:cNvPr>
            <p:cNvGrpSpPr/>
            <p:nvPr/>
          </p:nvGrpSpPr>
          <p:grpSpPr>
            <a:xfrm>
              <a:off x="-1734911" y="4129340"/>
              <a:ext cx="12242346" cy="634321"/>
              <a:chOff x="-1734911" y="4054168"/>
              <a:chExt cx="12242346" cy="6343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FFC42B01-B0CF-D04C-4178-E9FB6C037F97}"/>
                      </a:ext>
                    </a:extLst>
                  </p:cNvPr>
                  <p:cNvSpPr txBox="1"/>
                  <p:nvPr/>
                </p:nvSpPr>
                <p:spPr>
                  <a:xfrm>
                    <a:off x="-1734911" y="4058637"/>
                    <a:ext cx="6599464" cy="62985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3200" b="1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en-US" altLang="zh-CN" sz="3200" b="1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𝒔𝒚𝒔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4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FFC42B01-B0CF-D04C-4178-E9FB6C037F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734911" y="4058637"/>
                    <a:ext cx="6599464" cy="62985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16593B21-3275-5E8E-8C20-D6067EB433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7345" y="4054168"/>
                <a:ext cx="0" cy="634321"/>
              </a:xfrm>
              <a:prstGeom prst="straightConnector1">
                <a:avLst/>
              </a:prstGeom>
              <a:ln w="76200">
                <a:solidFill>
                  <a:srgbClr val="FFC00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14D8DCE-B7D2-0812-E02E-1A37EE6E3689}"/>
                  </a:ext>
                </a:extLst>
              </p:cNvPr>
              <p:cNvSpPr txBox="1"/>
              <p:nvPr/>
            </p:nvSpPr>
            <p:spPr>
              <a:xfrm>
                <a:off x="2827565" y="4078940"/>
                <a:ext cx="767987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3200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Higher power and antenna gain</a:t>
                </a:r>
                <a:endParaRPr lang="zh-CN" altLang="en-US" sz="320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867A7FC-EE85-D7A8-AF6E-719FB0F8D3C9}"/>
                </a:ext>
              </a:extLst>
            </p:cNvPr>
            <p:cNvSpPr txBox="1"/>
            <p:nvPr/>
          </p:nvSpPr>
          <p:spPr>
            <a:xfrm>
              <a:off x="2827565" y="5057336"/>
              <a:ext cx="767987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320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Lower phase noise and receiver noise</a:t>
              </a:r>
              <a:endPara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72E18BB-EE3B-4442-8057-1654DDABB034}"/>
              </a:ext>
            </a:extLst>
          </p:cNvPr>
          <p:cNvGrpSpPr/>
          <p:nvPr/>
        </p:nvGrpSpPr>
        <p:grpSpPr>
          <a:xfrm>
            <a:off x="0" y="6614928"/>
            <a:ext cx="12192000" cy="461665"/>
            <a:chOff x="0" y="6614928"/>
            <a:chExt cx="12192000" cy="46166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85588B6-F1B1-DD4D-7A36-26C45B8C39B1}"/>
                </a:ext>
              </a:extLst>
            </p:cNvPr>
            <p:cNvSpPr/>
            <p:nvPr/>
          </p:nvSpPr>
          <p:spPr>
            <a:xfrm>
              <a:off x="0" y="6614928"/>
              <a:ext cx="12192000" cy="24307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669B965-F7A9-3197-4158-EF9F89C485FA}"/>
                </a:ext>
              </a:extLst>
            </p:cNvPr>
            <p:cNvSpPr txBox="1"/>
            <p:nvPr/>
          </p:nvSpPr>
          <p:spPr>
            <a:xfrm>
              <a:off x="1" y="6614928"/>
              <a:ext cx="12191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Injected and Leaked: Actively Inducing Side-Channel Leakage Using Electromagnetic Injection and Hardware Nonlinearity | </a:t>
              </a:r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https://injecteave.github.io/</a:t>
              </a:r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1118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444BE-1AD1-2238-624F-BC62925B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3CCC2E-C882-4A38-6CB7-982C16AA1F4B}"/>
              </a:ext>
            </a:extLst>
          </p:cNvPr>
          <p:cNvSpPr txBox="1"/>
          <p:nvPr/>
        </p:nvSpPr>
        <p:spPr>
          <a:xfrm>
            <a:off x="444377" y="165306"/>
            <a:ext cx="83375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Broad Threat : Nonlinearity Is </a:t>
            </a:r>
            <a:r>
              <a:rPr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Everywhere</a:t>
            </a:r>
            <a:endParaRPr lang="zh-CN" altLang="en-US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6B0948A-5DEF-DC7F-75B7-55DECCA6B439}"/>
              </a:ext>
            </a:extLst>
          </p:cNvPr>
          <p:cNvGrpSpPr/>
          <p:nvPr/>
        </p:nvGrpSpPr>
        <p:grpSpPr>
          <a:xfrm>
            <a:off x="447870" y="845062"/>
            <a:ext cx="2736655" cy="112202"/>
            <a:chOff x="511370" y="845061"/>
            <a:chExt cx="3037889" cy="1213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831A75-6FE0-6B87-A917-91E47CC3249E}"/>
                </a:ext>
              </a:extLst>
            </p:cNvPr>
            <p:cNvSpPr/>
            <p:nvPr/>
          </p:nvSpPr>
          <p:spPr>
            <a:xfrm>
              <a:off x="511370" y="845061"/>
              <a:ext cx="1512444" cy="12134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BD9591C-5965-7CAE-9F28-E898E373449A}"/>
                </a:ext>
              </a:extLst>
            </p:cNvPr>
            <p:cNvSpPr/>
            <p:nvPr/>
          </p:nvSpPr>
          <p:spPr>
            <a:xfrm>
              <a:off x="2036815" y="845061"/>
              <a:ext cx="1512444" cy="12134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66F3C21-29A2-7B20-5D33-2BA6CE1CD283}"/>
              </a:ext>
            </a:extLst>
          </p:cNvPr>
          <p:cNvSpPr txBox="1"/>
          <p:nvPr/>
        </p:nvSpPr>
        <p:spPr>
          <a:xfrm>
            <a:off x="2903668" y="6433483"/>
            <a:ext cx="6884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Haoran Yan | hyan097@connect.hkust-gz.edu.cn</a:t>
            </a:r>
            <a:endParaRPr lang="zh-CN" alt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56E005-99C1-57FF-FE12-AB14DEEED2B7}"/>
              </a:ext>
            </a:extLst>
          </p:cNvPr>
          <p:cNvSpPr txBox="1"/>
          <p:nvPr/>
        </p:nvSpPr>
        <p:spPr>
          <a:xfrm>
            <a:off x="444377" y="1227386"/>
            <a:ext cx="1052403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Nonlinearity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enables essential hardware functions and is </a:t>
            </a:r>
          </a:p>
          <a:p>
            <a:r>
              <a:rPr lang="en-US" altLang="zh-CN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unavoidable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in real-world systems.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24D2CAE-F063-5E7E-76C9-0BA7E4D77A9B}"/>
              </a:ext>
            </a:extLst>
          </p:cNvPr>
          <p:cNvGrpSpPr/>
          <p:nvPr/>
        </p:nvGrpSpPr>
        <p:grpSpPr>
          <a:xfrm>
            <a:off x="3684298" y="2536298"/>
            <a:ext cx="4823403" cy="3160392"/>
            <a:chOff x="2167115" y="2053080"/>
            <a:chExt cx="7528281" cy="5655371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8B26719-3E6A-222D-4E3A-F6E46D080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6233" y="2053080"/>
              <a:ext cx="3859163" cy="2751839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DFAA0369-639D-31AE-BCE5-AC2891B2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7115" y="2053080"/>
              <a:ext cx="3669118" cy="2755660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BA9BD4D0-3B0C-3107-E140-F10098CA9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7115" y="4814080"/>
              <a:ext cx="3674243" cy="2894371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14079CCD-84AF-3DAF-E87D-21871F2B9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36233" y="4804920"/>
              <a:ext cx="3859163" cy="2894372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C49F03E-AA7C-29BC-6751-BE7D2BB5676B}"/>
              </a:ext>
            </a:extLst>
          </p:cNvPr>
          <p:cNvGrpSpPr/>
          <p:nvPr/>
        </p:nvGrpSpPr>
        <p:grpSpPr>
          <a:xfrm>
            <a:off x="0" y="6614928"/>
            <a:ext cx="12192000" cy="461665"/>
            <a:chOff x="0" y="6614928"/>
            <a:chExt cx="12192000" cy="46166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065BC6-8EFA-935A-AED7-4AE4D5DBCD2C}"/>
                </a:ext>
              </a:extLst>
            </p:cNvPr>
            <p:cNvSpPr/>
            <p:nvPr/>
          </p:nvSpPr>
          <p:spPr>
            <a:xfrm>
              <a:off x="0" y="6614928"/>
              <a:ext cx="12192000" cy="24307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91478D-BCAD-D56B-1670-FCD85DD1D6F2}"/>
                </a:ext>
              </a:extLst>
            </p:cNvPr>
            <p:cNvSpPr txBox="1"/>
            <p:nvPr/>
          </p:nvSpPr>
          <p:spPr>
            <a:xfrm>
              <a:off x="1" y="6614928"/>
              <a:ext cx="12191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Injected and Leaked: Actively Inducing Side-Channel Leakage Using Electromagnetic Injection and Hardware Nonlinearity | </a:t>
              </a:r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https://injecteave.github.io/</a:t>
              </a:r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82F135A-9AF0-D1E9-B267-A8A8C7F04598}"/>
              </a:ext>
            </a:extLst>
          </p:cNvPr>
          <p:cNvSpPr txBox="1"/>
          <p:nvPr/>
        </p:nvSpPr>
        <p:spPr>
          <a:xfrm>
            <a:off x="4250531" y="5742596"/>
            <a:ext cx="3690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Real-world computing systems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41316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9722E-C5AD-1307-C5B9-89BB89AC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E69980-318E-AED2-3CCC-2346B36978AC}"/>
              </a:ext>
            </a:extLst>
          </p:cNvPr>
          <p:cNvSpPr txBox="1"/>
          <p:nvPr/>
        </p:nvSpPr>
        <p:spPr>
          <a:xfrm>
            <a:off x="366273" y="165306"/>
            <a:ext cx="20553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8FE645-AC1B-CBD4-EB77-B0AA51F8103F}"/>
              </a:ext>
            </a:extLst>
          </p:cNvPr>
          <p:cNvGrpSpPr/>
          <p:nvPr/>
        </p:nvGrpSpPr>
        <p:grpSpPr>
          <a:xfrm>
            <a:off x="447870" y="845062"/>
            <a:ext cx="2736655" cy="112202"/>
            <a:chOff x="511370" y="845061"/>
            <a:chExt cx="3037889" cy="1213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37610D-5306-C5FA-7B8A-4160B75B8812}"/>
                </a:ext>
              </a:extLst>
            </p:cNvPr>
            <p:cNvSpPr/>
            <p:nvPr/>
          </p:nvSpPr>
          <p:spPr>
            <a:xfrm>
              <a:off x="511370" y="845061"/>
              <a:ext cx="1512444" cy="12134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4FCC094-BCE5-3C74-0362-90CCBDB4281D}"/>
                </a:ext>
              </a:extLst>
            </p:cNvPr>
            <p:cNvSpPr/>
            <p:nvPr/>
          </p:nvSpPr>
          <p:spPr>
            <a:xfrm>
              <a:off x="2036815" y="845061"/>
              <a:ext cx="1512444" cy="12134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55D7A02-7500-B2C3-23BF-0B158E5A1BCD}"/>
              </a:ext>
            </a:extLst>
          </p:cNvPr>
          <p:cNvSpPr txBox="1"/>
          <p:nvPr/>
        </p:nvSpPr>
        <p:spPr>
          <a:xfrm>
            <a:off x="2903668" y="6433483"/>
            <a:ext cx="6884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Haoran Yan | hyan097@connect.hkust-gz.edu.cn</a:t>
            </a:r>
            <a:endParaRPr lang="zh-CN" alt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1C63E-B9FC-48C6-367F-ACAE506C2408}"/>
              </a:ext>
            </a:extLst>
          </p:cNvPr>
          <p:cNvSpPr txBox="1"/>
          <p:nvPr/>
        </p:nvSpPr>
        <p:spPr>
          <a:xfrm>
            <a:off x="193530" y="1019385"/>
            <a:ext cx="1113586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Active injection turns weak leakage into controllable leakage.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Hardware designs and EM shielding of existing systems. </a:t>
            </a:r>
          </a:p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    can/should be improved.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Watch out for suspicious antennas if you are wearing headphones.</a:t>
            </a:r>
            <a:endParaRPr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0AF06D-0552-B397-58A3-C901DFF6F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0" t="9486" r="8706" b="8808"/>
          <a:stretch>
            <a:fillRect/>
          </a:stretch>
        </p:blipFill>
        <p:spPr>
          <a:xfrm>
            <a:off x="8230269" y="3914868"/>
            <a:ext cx="2654160" cy="26464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769E5C5-F54F-2BCD-C102-2719F7539FEE}"/>
              </a:ext>
            </a:extLst>
          </p:cNvPr>
          <p:cNvSpPr txBox="1"/>
          <p:nvPr/>
        </p:nvSpPr>
        <p:spPr>
          <a:xfrm>
            <a:off x="7488738" y="3310975"/>
            <a:ext cx="41372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https://injecteave.github.io/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AB1A9B8-911B-67A4-412C-698DFB82F00F}"/>
              </a:ext>
            </a:extLst>
          </p:cNvPr>
          <p:cNvGrpSpPr/>
          <p:nvPr/>
        </p:nvGrpSpPr>
        <p:grpSpPr>
          <a:xfrm>
            <a:off x="0" y="6614928"/>
            <a:ext cx="12192000" cy="461665"/>
            <a:chOff x="0" y="6614928"/>
            <a:chExt cx="12192000" cy="46166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97B00A-4EE0-D5D7-E94A-A594AE25030D}"/>
                </a:ext>
              </a:extLst>
            </p:cNvPr>
            <p:cNvSpPr/>
            <p:nvPr/>
          </p:nvSpPr>
          <p:spPr>
            <a:xfrm>
              <a:off x="0" y="6614928"/>
              <a:ext cx="12192000" cy="243072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5E9630-F75B-0742-FC9C-FFFE36CE26AA}"/>
                </a:ext>
              </a:extLst>
            </p:cNvPr>
            <p:cNvSpPr txBox="1"/>
            <p:nvPr/>
          </p:nvSpPr>
          <p:spPr>
            <a:xfrm>
              <a:off x="1" y="6614928"/>
              <a:ext cx="12191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Injected and Leaked: Actively Inducing Side-Channel Leakage Using Electromagnetic Injection and Hardware Nonlinearity | </a:t>
              </a:r>
              <a:r>
                <a:rPr lang="en-US" altLang="zh-CN" sz="12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https://injecteave.github.io/</a:t>
              </a:r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CD215BE5-0347-50B9-2C22-370D04A6C6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653" y="3597741"/>
            <a:ext cx="985828" cy="108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4C4198B-3525-AAA0-4210-06163DB0B5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797" y="3610862"/>
            <a:ext cx="1020196" cy="108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53E9EF3-2AA8-C50F-DB08-8D4F231088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2" t="3363" r="12790" b="14964"/>
          <a:stretch>
            <a:fillRect/>
          </a:stretch>
        </p:blipFill>
        <p:spPr>
          <a:xfrm>
            <a:off x="566039" y="3610862"/>
            <a:ext cx="989098" cy="108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A34650D-26A6-86EB-CD28-531ACF430D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9205" y="5069587"/>
            <a:ext cx="1103226" cy="1080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F047C80-203B-57FB-CAA3-FF6B968903E9}"/>
              </a:ext>
            </a:extLst>
          </p:cNvPr>
          <p:cNvSpPr txBox="1"/>
          <p:nvPr/>
        </p:nvSpPr>
        <p:spPr>
          <a:xfrm>
            <a:off x="447870" y="2812183"/>
            <a:ext cx="1225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Team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3328D6A-0E18-9714-2750-E23036BD96DE}"/>
              </a:ext>
            </a:extLst>
          </p:cNvPr>
          <p:cNvGrpSpPr/>
          <p:nvPr/>
        </p:nvGrpSpPr>
        <p:grpSpPr>
          <a:xfrm>
            <a:off x="447870" y="3366205"/>
            <a:ext cx="2736655" cy="112202"/>
            <a:chOff x="511370" y="845061"/>
            <a:chExt cx="3037889" cy="121343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EBC5235-5C25-6D24-6574-626D165BE51B}"/>
                </a:ext>
              </a:extLst>
            </p:cNvPr>
            <p:cNvSpPr/>
            <p:nvPr/>
          </p:nvSpPr>
          <p:spPr>
            <a:xfrm>
              <a:off x="511370" y="845061"/>
              <a:ext cx="1512444" cy="12134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9D7649-21A0-A3CE-D4C0-D5A7D18EE6F1}"/>
                </a:ext>
              </a:extLst>
            </p:cNvPr>
            <p:cNvSpPr/>
            <p:nvPr/>
          </p:nvSpPr>
          <p:spPr>
            <a:xfrm>
              <a:off x="2036815" y="845061"/>
              <a:ext cx="1512444" cy="12134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A91E2B4-0D65-1080-5CE6-0564CE3D67C8}"/>
              </a:ext>
            </a:extLst>
          </p:cNvPr>
          <p:cNvSpPr txBox="1"/>
          <p:nvPr/>
        </p:nvSpPr>
        <p:spPr>
          <a:xfrm>
            <a:off x="406589" y="4710015"/>
            <a:ext cx="1394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Haoran Yan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BD2187-1C8E-4079-589D-C2749E3F881E}"/>
              </a:ext>
            </a:extLst>
          </p:cNvPr>
          <p:cNvSpPr txBox="1"/>
          <p:nvPr/>
        </p:nvSpPr>
        <p:spPr>
          <a:xfrm>
            <a:off x="2291962" y="4710015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Ziyu Shao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31FA17A-8898-31C2-785B-7CB2414C625D}"/>
              </a:ext>
            </a:extLst>
          </p:cNvPr>
          <p:cNvSpPr txBox="1"/>
          <p:nvPr/>
        </p:nvSpPr>
        <p:spPr>
          <a:xfrm>
            <a:off x="3993405" y="4710015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Shuhao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Zhang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1C8096-D242-43DD-77EE-740B6C488F9F}"/>
              </a:ext>
            </a:extLst>
          </p:cNvPr>
          <p:cNvSpPr txBox="1"/>
          <p:nvPr/>
        </p:nvSpPr>
        <p:spPr>
          <a:xfrm>
            <a:off x="1026895" y="6149587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Qinhong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Jiang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B9DF3F-20DD-A8DB-089C-4B46B83A01DB}"/>
              </a:ext>
            </a:extLst>
          </p:cNvPr>
          <p:cNvSpPr txBox="1"/>
          <p:nvPr/>
        </p:nvSpPr>
        <p:spPr>
          <a:xfrm>
            <a:off x="3303320" y="6174747"/>
            <a:ext cx="1154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Yan Long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E7E2A3-627B-53B3-9A03-9CBCF398C7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4" y="5308221"/>
            <a:ext cx="2030846" cy="5538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4F57597-8214-BB19-32A8-5EBEC8AF17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24504" y="6025133"/>
            <a:ext cx="2507863" cy="478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6B5328-8D0E-DD7C-3DF2-1EC53B0EF1B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5" t="3974" r="4703" b="24020"/>
          <a:stretch>
            <a:fillRect/>
          </a:stretch>
        </p:blipFill>
        <p:spPr>
          <a:xfrm>
            <a:off x="1306581" y="5087046"/>
            <a:ext cx="984392" cy="108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326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901</Words>
  <Application>Microsoft Office PowerPoint</Application>
  <PresentationFormat>Widescreen</PresentationFormat>
  <Paragraphs>128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等线</vt:lpstr>
      <vt:lpstr>等线 Light</vt:lpstr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Haoran YAN</dc:creator>
  <cp:lastModifiedBy>Haoran YAN</cp:lastModifiedBy>
  <cp:revision>6</cp:revision>
  <dcterms:created xsi:type="dcterms:W3CDTF">2026-07-20T03:33:29Z</dcterms:created>
  <dcterms:modified xsi:type="dcterms:W3CDTF">2026-07-27T08:22:44Z</dcterms:modified>
</cp:coreProperties>
</file>